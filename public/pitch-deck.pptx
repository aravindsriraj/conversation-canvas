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2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73152" cy="73152"/>
          </a:xfrm>
          <a:prstGeom prst="rect">
            <a:avLst/>
          </a:prstGeom>
          <a:solidFill>
            <a:srgbClr val="2E5337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448056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0" kern="0" dirty="0">
                <a:solidFill>
                  <a:srgbClr val="1A18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CONVERSATION CANVAS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800" kern="0" dirty="0">
                <a:solidFill>
                  <a:srgbClr val="A095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№ 01  ·  MILAN AI WEEK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8229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spc="-200" kern="0" dirty="0">
                <a:solidFill>
                  <a:srgbClr val="1A181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thoughts,</a:t>
            </a:r>
            <a:endParaRPr lang="en-US" sz="6400" dirty="0"/>
          </a:p>
          <a:p>
            <a:pPr indent="0" marL="0">
              <a:buNone/>
            </a:pPr>
            <a:r>
              <a:rPr lang="en-US" sz="6400" i="1" spc="-200" kern="0" dirty="0">
                <a:solidFill>
                  <a:srgbClr val="1A181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 a canvas.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548640" y="361188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8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Talk through anything you're chewing on — a decision, a plan, a problem. The canvas listens and turns what you say into typed cards you can keep refining by voice or chat.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4572000"/>
            <a:ext cx="8046720" cy="0"/>
          </a:xfrm>
          <a:prstGeom prst="line">
            <a:avLst/>
          </a:prstGeom>
          <a:noFill/>
          <a:ln w="6350">
            <a:solidFill>
              <a:srgbClr val="DCD3C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47091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1A18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ARAVINDAN SRIRAJ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852160" y="47091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095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canvas.ai-application.xyz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2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54864" cy="54864"/>
          </a:xfrm>
          <a:prstGeom prst="rect">
            <a:avLst/>
          </a:prstGeom>
          <a:solidFill>
            <a:srgbClr val="2E5337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4688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800" kern="0" dirty="0">
                <a:solidFill>
                  <a:srgbClr val="1A18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CONVERSATION CANVAS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4114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600" kern="0" dirty="0">
                <a:solidFill>
                  <a:srgbClr val="A095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§ I  ·  THE PROBLEM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A181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talk it through. Then it's gone.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36576" cy="1828800"/>
          </a:xfrm>
          <a:prstGeom prst="rect">
            <a:avLst/>
          </a:prstGeom>
          <a:solidFill>
            <a:srgbClr val="DCD3C0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10312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A181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“Wait — what was the angle I had on this last week?”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35661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400" kern="0" dirty="0">
                <a:solidFill>
                  <a:srgbClr val="A095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— A TUESDAY MORNING · TRYING TO REMEMBER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383280" y="2103120"/>
            <a:ext cx="36576" cy="1828800"/>
          </a:xfrm>
          <a:prstGeom prst="rect">
            <a:avLst/>
          </a:prstGeom>
          <a:solidFill>
            <a:srgbClr val="DCD3C0"/>
          </a:solidFill>
          <a:ln/>
        </p:spPr>
      </p:sp>
      <p:sp>
        <p:nvSpPr>
          <p:cNvPr id="10" name="Text 8"/>
          <p:cNvSpPr/>
          <p:nvPr/>
        </p:nvSpPr>
        <p:spPr>
          <a:xfrm>
            <a:off x="3566160" y="210312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A181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“I had the whole plan in my head an hour ago.”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566160" y="35661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400" kern="0" dirty="0">
                <a:solidFill>
                  <a:srgbClr val="A095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— A BLANK NOTION PAGE · CURSOR BLINKING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6217920" y="2103120"/>
            <a:ext cx="36576" cy="1828800"/>
          </a:xfrm>
          <a:prstGeom prst="rect">
            <a:avLst/>
          </a:prstGeom>
          <a:solidFill>
            <a:srgbClr val="DCD3C0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0" y="210312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A181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“Voice memos again? I'll never re-listen to those.”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00800" y="35661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400" kern="0" dirty="0">
                <a:solidFill>
                  <a:srgbClr val="A095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— SILENCE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548640" y="4709160"/>
            <a:ext cx="8046720" cy="0"/>
          </a:xfrm>
          <a:prstGeom prst="line">
            <a:avLst/>
          </a:prstGeom>
          <a:noFill/>
          <a:ln w="6350">
            <a:solidFill>
              <a:srgbClr val="DCD3C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8006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A095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10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852160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095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canvas.ai-application.xyz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2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54864" cy="54864"/>
          </a:xfrm>
          <a:prstGeom prst="rect">
            <a:avLst/>
          </a:prstGeom>
          <a:solidFill>
            <a:srgbClr val="2E5337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4688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800" kern="0" dirty="0">
                <a:solidFill>
                  <a:srgbClr val="1A18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CONVERSATION CANVAS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4114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600" kern="0" dirty="0">
                <a:solidFill>
                  <a:srgbClr val="A095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§ II  ·  WHAT EXISTS TODAY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A181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Existing tools fall into three buckets.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15087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0958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None of them produce the artifact you actually wanted.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286000"/>
            <a:ext cx="2606040" cy="1554480"/>
          </a:xfrm>
          <a:prstGeom prst="rect">
            <a:avLst/>
          </a:prstGeom>
          <a:solidFill>
            <a:srgbClr val="F7F2E3"/>
          </a:solidFill>
          <a:ln w="12700">
            <a:solidFill>
              <a:srgbClr val="DCD3C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48716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A095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VOICE MEMOS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77240" y="283464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81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Audio you record.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77240" y="333756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0958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You'll never replay it.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37560" y="2286000"/>
            <a:ext cx="2606040" cy="1554480"/>
          </a:xfrm>
          <a:prstGeom prst="rect">
            <a:avLst/>
          </a:prstGeom>
          <a:solidFill>
            <a:srgbClr val="F7F2E3"/>
          </a:solidFill>
          <a:ln w="12700">
            <a:solidFill>
              <a:srgbClr val="DCD3C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66160" y="248716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A095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TRANSCRIPTS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566160" y="283464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81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wall of text.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566160" y="333756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0958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Nobody opens it twice.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26480" y="2286000"/>
            <a:ext cx="2606040" cy="1554480"/>
          </a:xfrm>
          <a:prstGeom prst="rect">
            <a:avLst/>
          </a:prstGeom>
          <a:solidFill>
            <a:srgbClr val="F7F2E3"/>
          </a:solidFill>
          <a:ln w="12700">
            <a:solidFill>
              <a:srgbClr val="DCD3C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55080" y="248716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A095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 WITH AN AI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355080" y="283464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81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scrolling log.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355080" y="333756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0958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structure is gone.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2E53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give you something different: a typed, navigable graph of what was said.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48640" y="4709160"/>
            <a:ext cx="8046720" cy="0"/>
          </a:xfrm>
          <a:prstGeom prst="line">
            <a:avLst/>
          </a:prstGeom>
          <a:noFill/>
          <a:ln w="6350">
            <a:solidFill>
              <a:srgbClr val="DCD3C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48006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A095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/ 10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852160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095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canvas.ai-application.xyz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2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54864" cy="54864"/>
          </a:xfrm>
          <a:prstGeom prst="rect">
            <a:avLst/>
          </a:prstGeom>
          <a:solidFill>
            <a:srgbClr val="2E5337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4688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800" kern="0" dirty="0">
                <a:solidFill>
                  <a:srgbClr val="1A18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CONVERSATION CANVAS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4114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600" kern="0" dirty="0">
                <a:solidFill>
                  <a:srgbClr val="A095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§ III  ·  WHAT IT IS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A181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canvas that listens — and one you can ask.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640" y="1920240"/>
            <a:ext cx="38404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A18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Speak naturally. The canvas catches what matters — proposals, decisions, commitments, blockers, open questions — and connects them by the relationships you spoke aloud.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A18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Need a sequence diagram, a flowchart, a budget split? Ask. Voice or chat — both understood.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754880" y="1920240"/>
            <a:ext cx="1828800" cy="914400"/>
          </a:xfrm>
          <a:prstGeom prst="rect">
            <a:avLst/>
          </a:prstGeom>
          <a:solidFill>
            <a:srgbClr val="F7F2E3"/>
          </a:solidFill>
          <a:ln w="12700">
            <a:solidFill>
              <a:srgbClr val="DCD3C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1920240"/>
            <a:ext cx="36576" cy="914400"/>
          </a:xfrm>
          <a:prstGeom prst="rect">
            <a:avLst/>
          </a:prstGeom>
          <a:solidFill>
            <a:srgbClr val="1A1815"/>
          </a:solidFill>
          <a:ln/>
        </p:spPr>
      </p:sp>
      <p:sp>
        <p:nvSpPr>
          <p:cNvPr id="9" name="Text 7"/>
          <p:cNvSpPr/>
          <p:nvPr/>
        </p:nvSpPr>
        <p:spPr>
          <a:xfrm>
            <a:off x="4892040" y="201168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095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PROPOSAL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4892040" y="22402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8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Magic links only — cleaner UX.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858000" y="1920240"/>
            <a:ext cx="1828800" cy="914400"/>
          </a:xfrm>
          <a:prstGeom prst="rect">
            <a:avLst/>
          </a:prstGeom>
          <a:solidFill>
            <a:srgbClr val="F7F2E3"/>
          </a:solidFill>
          <a:ln w="19050">
            <a:solidFill>
              <a:srgbClr val="2E533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58000" y="1920240"/>
            <a:ext cx="36576" cy="914400"/>
          </a:xfrm>
          <a:prstGeom prst="rect">
            <a:avLst/>
          </a:prstGeom>
          <a:solidFill>
            <a:srgbClr val="2E5337"/>
          </a:solidFill>
          <a:ln/>
        </p:spPr>
      </p:sp>
      <p:sp>
        <p:nvSpPr>
          <p:cNvPr id="13" name="Text 11"/>
          <p:cNvSpPr/>
          <p:nvPr/>
        </p:nvSpPr>
        <p:spPr>
          <a:xfrm>
            <a:off x="6995160" y="201168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095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DECISION · LOCKED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995160" y="22402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8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Magic links + SAML in phase 2.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754880" y="3017520"/>
            <a:ext cx="1828800" cy="822960"/>
          </a:xfrm>
          <a:prstGeom prst="rect">
            <a:avLst/>
          </a:prstGeom>
          <a:solidFill>
            <a:srgbClr val="F7F2E3"/>
          </a:solidFill>
          <a:ln w="12700">
            <a:solidFill>
              <a:srgbClr val="DCD3C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54880" y="3017520"/>
            <a:ext cx="36576" cy="822960"/>
          </a:xfrm>
          <a:prstGeom prst="rect">
            <a:avLst/>
          </a:prstGeom>
          <a:solidFill>
            <a:srgbClr val="B82626"/>
          </a:solidFill>
          <a:ln/>
        </p:spPr>
      </p:sp>
      <p:sp>
        <p:nvSpPr>
          <p:cNvPr id="17" name="Text 15"/>
          <p:cNvSpPr/>
          <p:nvPr/>
        </p:nvSpPr>
        <p:spPr>
          <a:xfrm>
            <a:off x="4892040" y="310896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095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BLOCKER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4892040" y="333756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8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SAML required &gt; 100 seats.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858000" y="3017520"/>
            <a:ext cx="1828800" cy="822960"/>
          </a:xfrm>
          <a:prstGeom prst="rect">
            <a:avLst/>
          </a:prstGeom>
          <a:solidFill>
            <a:srgbClr val="F7F2E3"/>
          </a:solidFill>
          <a:ln w="12700">
            <a:solidFill>
              <a:srgbClr val="DCD3C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858000" y="3017520"/>
            <a:ext cx="36576" cy="822960"/>
          </a:xfrm>
          <a:prstGeom prst="rect">
            <a:avLst/>
          </a:prstGeom>
          <a:solidFill>
            <a:srgbClr val="C6862B"/>
          </a:solidFill>
          <a:ln/>
        </p:spPr>
      </p:sp>
      <p:sp>
        <p:nvSpPr>
          <p:cNvPr id="21" name="Text 19"/>
          <p:cNvSpPr/>
          <p:nvPr/>
        </p:nvSpPr>
        <p:spPr>
          <a:xfrm>
            <a:off x="6995160" y="310896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095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COMMITMENT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6995160" y="333756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8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Compare providers by Friday.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754880" y="41148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0958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Each card connected by what you said: supports, blocks, decides.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8640" y="4709160"/>
            <a:ext cx="8046720" cy="0"/>
          </a:xfrm>
          <a:prstGeom prst="line">
            <a:avLst/>
          </a:prstGeom>
          <a:noFill/>
          <a:ln w="6350">
            <a:solidFill>
              <a:srgbClr val="DCD3C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48006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A095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/ 10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852160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095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canvas.ai-application.xyz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2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54864" cy="54864"/>
          </a:xfrm>
          <a:prstGeom prst="rect">
            <a:avLst/>
          </a:prstGeom>
          <a:solidFill>
            <a:srgbClr val="2E5337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4688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800" kern="0" dirty="0">
                <a:solidFill>
                  <a:srgbClr val="1A18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CONVERSATION CANVAS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4114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600" kern="0" dirty="0">
                <a:solidFill>
                  <a:srgbClr val="A095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§ IV  ·  HOW IT WORKS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A181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steps. No setup. No templates.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640" y="201168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dirty="0">
                <a:solidFill>
                  <a:srgbClr val="2E53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5600" dirty="0"/>
          </a:p>
        </p:txBody>
      </p:sp>
      <p:sp>
        <p:nvSpPr>
          <p:cNvPr id="7" name="Text 5"/>
          <p:cNvSpPr/>
          <p:nvPr/>
        </p:nvSpPr>
        <p:spPr>
          <a:xfrm>
            <a:off x="548640" y="301752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81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Talk like normal.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3611880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0958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Start a canvas, hit listen, think out loud. No tags, no formats, no special prompts.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337560" y="201168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dirty="0">
                <a:solidFill>
                  <a:srgbClr val="2E53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5600" dirty="0"/>
          </a:p>
        </p:txBody>
      </p:sp>
      <p:sp>
        <p:nvSpPr>
          <p:cNvPr id="10" name="Text 8"/>
          <p:cNvSpPr/>
          <p:nvPr/>
        </p:nvSpPr>
        <p:spPr>
          <a:xfrm>
            <a:off x="3337560" y="301752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81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canvas catches what matters.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337560" y="3611880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0958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Proposals, decisions, commitments, blockers and questions appear as cards — connected by the relationships you spoke aloud.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126480" y="201168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dirty="0">
                <a:solidFill>
                  <a:srgbClr val="2E53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5600" dirty="0"/>
          </a:p>
        </p:txBody>
      </p:sp>
      <p:sp>
        <p:nvSpPr>
          <p:cNvPr id="13" name="Text 11"/>
          <p:cNvSpPr/>
          <p:nvPr/>
        </p:nvSpPr>
        <p:spPr>
          <a:xfrm>
            <a:off x="6126480" y="301752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81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Shape it however you like.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126480" y="3611880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0958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Add a sticky. Draw a flowchart. Make the blocker red. Ask for a budget split. Voice or typing — both understood.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4709160"/>
            <a:ext cx="8046720" cy="0"/>
          </a:xfrm>
          <a:prstGeom prst="line">
            <a:avLst/>
          </a:prstGeom>
          <a:noFill/>
          <a:ln w="6350">
            <a:solidFill>
              <a:srgbClr val="DCD3C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8006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A095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/ 10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852160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095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canvas.ai-application.xyz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2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54864" cy="54864"/>
          </a:xfrm>
          <a:prstGeom prst="rect">
            <a:avLst/>
          </a:prstGeom>
          <a:solidFill>
            <a:srgbClr val="2E5337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4688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800" kern="0" dirty="0">
                <a:solidFill>
                  <a:srgbClr val="1A18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CONVERSATION CANVAS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4114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600" kern="0" dirty="0">
                <a:solidFill>
                  <a:srgbClr val="A095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§ V  ·  TWO SURFACES, ONE VOCABULARY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A181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Voice and chat speak the same language.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3931920" cy="2560320"/>
          </a:xfrm>
          <a:prstGeom prst="rect">
            <a:avLst/>
          </a:prstGeom>
          <a:solidFill>
            <a:srgbClr val="F7F2E3"/>
          </a:solidFill>
          <a:ln w="12700">
            <a:solidFill>
              <a:srgbClr val="DCD3C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828800"/>
            <a:ext cx="54864" cy="2560320"/>
          </a:xfrm>
          <a:prstGeom prst="rect">
            <a:avLst/>
          </a:prstGeom>
          <a:solidFill>
            <a:srgbClr val="2E5337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01168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600" kern="0" dirty="0">
                <a:solidFill>
                  <a:srgbClr val="A095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VOICE ORCHESTRATOR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77240" y="22860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81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Passive listener.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77240" y="278892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8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Runs every 1.5s while you talk. Reads transcript + canvas + long-term memory; emits typed actions. Now streams shape-by-shape — the first card lands at ~1s, not at the end of the batch.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77240" y="402336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2E53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streamObject  ·  Zod-validated  ·  25s abort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663440" y="1828800"/>
            <a:ext cx="3931920" cy="2560320"/>
          </a:xfrm>
          <a:prstGeom prst="rect">
            <a:avLst/>
          </a:prstGeom>
          <a:solidFill>
            <a:srgbClr val="F7F2E3"/>
          </a:solidFill>
          <a:ln w="12700">
            <a:solidFill>
              <a:srgbClr val="DCD3C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828800"/>
            <a:ext cx="54864" cy="2560320"/>
          </a:xfrm>
          <a:prstGeom prst="rect">
            <a:avLst/>
          </a:prstGeom>
          <a:solidFill>
            <a:srgbClr val="C6862B"/>
          </a:solidFill>
          <a:ln/>
        </p:spPr>
      </p:sp>
      <p:sp>
        <p:nvSpPr>
          <p:cNvPr id="14" name="Text 12"/>
          <p:cNvSpPr/>
          <p:nvPr/>
        </p:nvSpPr>
        <p:spPr>
          <a:xfrm>
            <a:off x="4892040" y="201168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600" kern="0" dirty="0">
                <a:solidFill>
                  <a:srgbClr val="A095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 AGENT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92040" y="22860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81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Active multi-step reasoner.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4892040" y="278892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8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You type a request — it reads the canvas, plans, emits actions one at a time via emit_action, observes whether each landed, adapts. Multimodal: the agent literally SEES the canvas.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92040" y="402336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C686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ToolLoopAgent  ·  stepCountIs(15)  ·  multimodal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4864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600" kern="0" dirty="0">
                <a:solidFill>
                  <a:srgbClr val="1A18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 typed actions  ·  same schema  ·  same dispatch pipeline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4709160"/>
            <a:ext cx="8046720" cy="0"/>
          </a:xfrm>
          <a:prstGeom prst="line">
            <a:avLst/>
          </a:prstGeom>
          <a:noFill/>
          <a:ln w="6350">
            <a:solidFill>
              <a:srgbClr val="DCD3C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48006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A095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/ 10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852160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095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canvas.ai-application.xyz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2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54864" cy="54864"/>
          </a:xfrm>
          <a:prstGeom prst="rect">
            <a:avLst/>
          </a:prstGeom>
          <a:solidFill>
            <a:srgbClr val="2E5337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4688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800" kern="0" dirty="0">
                <a:solidFill>
                  <a:srgbClr val="1A18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CONVERSATION CANVAS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4114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600" kern="0" dirty="0">
                <a:solidFill>
                  <a:srgbClr val="A095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§ VI  ·  DEMO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A181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minutes. One thought, worked through.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548640" y="1856232"/>
            <a:ext cx="640080" cy="292608"/>
          </a:xfrm>
          <a:prstGeom prst="rect">
            <a:avLst/>
          </a:prstGeom>
          <a:solidFill>
            <a:srgbClr val="2E5337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85623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400" kern="0" dirty="0">
                <a:solidFill>
                  <a:srgbClr val="F7F2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VOICE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325880" y="178308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8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Free-form thinking — auto-extract proposal, blocker, decision, commitment cards with the right relationship arrows.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350008"/>
            <a:ext cx="640080" cy="292608"/>
          </a:xfrm>
          <a:prstGeom prst="rect">
            <a:avLst/>
          </a:prstGeom>
          <a:solidFill>
            <a:srgbClr val="2E5337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35000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400" kern="0" dirty="0">
                <a:solidFill>
                  <a:srgbClr val="F7F2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VOICE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325880" y="2276856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8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“Draw a sequence diagram of the magic link login flow.” — one Mermaid call, native editable shapes.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843784"/>
            <a:ext cx="640080" cy="292608"/>
          </a:xfrm>
          <a:prstGeom prst="rect">
            <a:avLst/>
          </a:prstGeom>
          <a:solidFill>
            <a:srgbClr val="2E5337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843784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400" kern="0" dirty="0">
                <a:solidFill>
                  <a:srgbClr val="F7F2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VOICE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325880" y="2770632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8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“Draw a flowchart of the auth rollout: Magic Links → SAML → OAuth.” — three nodes, chain rendered in one step.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3337560"/>
            <a:ext cx="640080" cy="292608"/>
          </a:xfrm>
          <a:prstGeom prst="rect">
            <a:avLst/>
          </a:prstGeom>
          <a:solidFill>
            <a:srgbClr val="C6862B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333756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400" kern="0" dirty="0">
                <a:solidFill>
                  <a:srgbClr val="F7F2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325880" y="3264408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8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“Add a budget allocator — 60% to auth provider, 30% to security audit, 10% to support docs.”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3831336"/>
            <a:ext cx="640080" cy="292608"/>
          </a:xfrm>
          <a:prstGeom prst="rect">
            <a:avLst/>
          </a:prstGeom>
          <a:solidFill>
            <a:srgbClr val="C6862B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3831336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400" kern="0" dirty="0">
                <a:solidFill>
                  <a:srgbClr val="F7F2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325880" y="3758184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8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“Make the 'magic links only' proposal red.” — chat sees the canvas, finds the card by content.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48640" y="43708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400" kern="0" dirty="0">
                <a:solidFill>
                  <a:srgbClr val="A095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See it live  →  canvas.ai-application.xyz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48640" y="4709160"/>
            <a:ext cx="8046720" cy="0"/>
          </a:xfrm>
          <a:prstGeom prst="line">
            <a:avLst/>
          </a:prstGeom>
          <a:noFill/>
          <a:ln w="6350">
            <a:solidFill>
              <a:srgbClr val="DCD3C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48006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A095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/ 10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852160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095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canvas.ai-application.xyz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2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54864" cy="54864"/>
          </a:xfrm>
          <a:prstGeom prst="rect">
            <a:avLst/>
          </a:prstGeom>
          <a:solidFill>
            <a:srgbClr val="2E5337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4688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800" kern="0" dirty="0">
                <a:solidFill>
                  <a:srgbClr val="1A18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CONVERSATION CANVAS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4114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600" kern="0" dirty="0">
                <a:solidFill>
                  <a:srgbClr val="A095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§ VII  ·  HOW IT'S BUILT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A181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system, end to end.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728216"/>
            <a:ext cx="36576" cy="402336"/>
          </a:xfrm>
          <a:prstGeom prst="rect">
            <a:avLst/>
          </a:prstGeom>
          <a:solidFill>
            <a:srgbClr val="1A1815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" y="171907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1A18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SPEECH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1929384"/>
            <a:ext cx="3813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18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Speechmatics realtime — diarized transcript over WebSocket; PCM AudioWorklet capture.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754880" y="1728216"/>
            <a:ext cx="36576" cy="402336"/>
          </a:xfrm>
          <a:prstGeom prst="rect">
            <a:avLst/>
          </a:prstGeom>
          <a:solidFill>
            <a:srgbClr val="1A1815"/>
          </a:solidFill>
          <a:ln/>
        </p:spPr>
      </p:sp>
      <p:sp>
        <p:nvSpPr>
          <p:cNvPr id="10" name="Text 8"/>
          <p:cNvSpPr/>
          <p:nvPr/>
        </p:nvSpPr>
        <p:spPr>
          <a:xfrm>
            <a:off x="4864608" y="171907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1A18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TRANSPORT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864608" y="1929384"/>
            <a:ext cx="3813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18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Custom Node WS server (next.js custom-server mode). 1.5s transcript debounce, per-room mutex.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48640" y="2276856"/>
            <a:ext cx="36576" cy="402336"/>
          </a:xfrm>
          <a:prstGeom prst="rect">
            <a:avLst/>
          </a:prstGeom>
          <a:solidFill>
            <a:srgbClr val="1A1815"/>
          </a:solidFill>
          <a:ln/>
        </p:spPr>
      </p:sp>
      <p:sp>
        <p:nvSpPr>
          <p:cNvPr id="13" name="Text 11"/>
          <p:cNvSpPr/>
          <p:nvPr/>
        </p:nvSpPr>
        <p:spPr>
          <a:xfrm>
            <a:off x="658368" y="226771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1A18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VOICE BRAIN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658368" y="2478024"/>
            <a:ext cx="3813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18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Gemini 3 Flash via streamObject — actions stream shape-by-shape with per-action dedup, 25s abort timeout. Classifier routes MODE-A (passive) vs MODE-B (compound canvas commands).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754880" y="2276856"/>
            <a:ext cx="36576" cy="402336"/>
          </a:xfrm>
          <a:prstGeom prst="rect">
            <a:avLst/>
          </a:prstGeom>
          <a:solidFill>
            <a:srgbClr val="1A1815"/>
          </a:solidFill>
          <a:ln/>
        </p:spPr>
      </p:sp>
      <p:sp>
        <p:nvSpPr>
          <p:cNvPr id="16" name="Text 14"/>
          <p:cNvSpPr/>
          <p:nvPr/>
        </p:nvSpPr>
        <p:spPr>
          <a:xfrm>
            <a:off x="4864608" y="226771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1A18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 BRAIN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864608" y="2478024"/>
            <a:ext cx="3813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18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Gemini 3 Flash via ToolLoopAgent — multi-step ReAct loop, stepCountIs(15), multimodal canvas grounding. Each emit_action tool call broadcasts immediately.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48640" y="2825496"/>
            <a:ext cx="36576" cy="402336"/>
          </a:xfrm>
          <a:prstGeom prst="rect">
            <a:avLst/>
          </a:prstGeom>
          <a:solidFill>
            <a:srgbClr val="1A1815"/>
          </a:solidFill>
          <a:ln/>
        </p:spPr>
      </p:sp>
      <p:sp>
        <p:nvSpPr>
          <p:cNvPr id="19" name="Text 17"/>
          <p:cNvSpPr/>
          <p:nvPr/>
        </p:nvSpPr>
        <p:spPr>
          <a:xfrm>
            <a:off x="658368" y="281635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1A18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CANVAS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58368" y="3026664"/>
            <a:ext cx="3813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18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tldraw v5 with 7 custom shapes + @tldraw/mermaid for sequence / flowchart / state / mindmap diagrams as native editable shapes.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754880" y="2825496"/>
            <a:ext cx="36576" cy="402336"/>
          </a:xfrm>
          <a:prstGeom prst="rect">
            <a:avLst/>
          </a:prstGeom>
          <a:solidFill>
            <a:srgbClr val="1A1815"/>
          </a:solidFill>
          <a:ln/>
        </p:spPr>
      </p:sp>
      <p:sp>
        <p:nvSpPr>
          <p:cNvPr id="22" name="Text 20"/>
          <p:cNvSpPr/>
          <p:nvPr/>
        </p:nvSpPr>
        <p:spPr>
          <a:xfrm>
            <a:off x="4864608" y="281635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1A18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RELIABILITY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864608" y="3026664"/>
            <a:ext cx="3813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18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Three-pattern payload shape recovery, server-side action canonicalization (budget %), three-layer dedup (text overlap, link orphans, mermaid singleton).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48640" y="3374136"/>
            <a:ext cx="36576" cy="402336"/>
          </a:xfrm>
          <a:prstGeom prst="rect">
            <a:avLst/>
          </a:prstGeom>
          <a:solidFill>
            <a:srgbClr val="1A1815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36499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1A18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MEMORY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58368" y="3575304"/>
            <a:ext cx="3813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18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Gemini 3.1 Flash Lite summarizer — async rollover at 50 messages, voice + chat threads + shared meta.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754880" y="3374136"/>
            <a:ext cx="36576" cy="402336"/>
          </a:xfrm>
          <a:prstGeom prst="rect">
            <a:avLst/>
          </a:prstGeom>
          <a:solidFill>
            <a:srgbClr val="1A1815"/>
          </a:solidFill>
          <a:ln/>
        </p:spPr>
      </p:sp>
      <p:sp>
        <p:nvSpPr>
          <p:cNvPr id="28" name="Text 26"/>
          <p:cNvSpPr/>
          <p:nvPr/>
        </p:nvSpPr>
        <p:spPr>
          <a:xfrm>
            <a:off x="4864608" y="336499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1A18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PERSISTENCE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864608" y="3575304"/>
            <a:ext cx="3813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18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Neon Postgres — action history, chat turns, canvas snapshots, memory. Advisory-lock seq race-safe.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48640" y="3922776"/>
            <a:ext cx="36576" cy="402336"/>
          </a:xfrm>
          <a:prstGeom prst="rect">
            <a:avLst/>
          </a:prstGeom>
          <a:solidFill>
            <a:srgbClr val="1A1815"/>
          </a:solidFill>
          <a:ln/>
        </p:spPr>
      </p:sp>
      <p:sp>
        <p:nvSpPr>
          <p:cNvPr id="31" name="Text 29"/>
          <p:cNvSpPr/>
          <p:nvPr/>
        </p:nvSpPr>
        <p:spPr>
          <a:xfrm>
            <a:off x="658368" y="39136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1A18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AUTH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58368" y="4123944"/>
            <a:ext cx="3813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18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Clerk — Google OAuth + email + magic links.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754880" y="3922776"/>
            <a:ext cx="36576" cy="402336"/>
          </a:xfrm>
          <a:prstGeom prst="rect">
            <a:avLst/>
          </a:prstGeom>
          <a:solidFill>
            <a:srgbClr val="1A1815"/>
          </a:solidFill>
          <a:ln/>
        </p:spPr>
      </p:sp>
      <p:sp>
        <p:nvSpPr>
          <p:cNvPr id="34" name="Text 32"/>
          <p:cNvSpPr/>
          <p:nvPr/>
        </p:nvSpPr>
        <p:spPr>
          <a:xfrm>
            <a:off x="4864608" y="39136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1A18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HOSTING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4864608" y="4123944"/>
            <a:ext cx="3813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181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Vultr VM · pm2 · nginx + Let's Encrypt TLS at canvas.ai-application.xyz.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8640" y="4709160"/>
            <a:ext cx="8046720" cy="0"/>
          </a:xfrm>
          <a:prstGeom prst="line">
            <a:avLst/>
          </a:prstGeom>
          <a:noFill/>
          <a:ln w="6350">
            <a:solidFill>
              <a:srgbClr val="DCD3C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48640" y="48006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A095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/ 10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852160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095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canvas.ai-application.xyz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2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74320"/>
            <a:ext cx="54864" cy="54864"/>
          </a:xfrm>
          <a:prstGeom prst="rect">
            <a:avLst/>
          </a:prstGeom>
          <a:solidFill>
            <a:srgbClr val="2E5337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4688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800" kern="0" dirty="0">
                <a:solidFill>
                  <a:srgbClr val="1A18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CONVERSATION CANVAS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4114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600" kern="0" dirty="0">
                <a:solidFill>
                  <a:srgbClr val="A095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§ VIII  ·  ROADMAP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A181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What's next.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0958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Multi-step agent + voice MODE-B + streaming all landed in v1. Next set: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20574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E53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1325880" y="21031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81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Cross-canvas memory.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25880" y="251460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0958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Persist user-level patterns across all of someone's canvases. “Aravindan tends to revisit pricing every quarter” — soft prior on new canvases.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754880" y="20574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E53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5532120" y="21031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81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Team mode.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532120" y="251460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0958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Multi-user real-time canvases with speaker-aware cards. Schema already supports speakerId tags; needs presence + sharing UI.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8640" y="34747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E53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1325880" y="3520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81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Integrations.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25880" y="393192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0958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Calendar tie-in (one canvas per scheduled meeting), Slack export (decisions + commitments as a digest), Linear/Jira (commitments → tickets).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754880" y="34747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E53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5532120" y="3520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81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Mobile capture.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532120" y="393192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0958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Phone app for ad-hoc thinking out loud. Same canvas, same voice pipeline — meets people where the meetings happen.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4709160"/>
            <a:ext cx="8046720" cy="0"/>
          </a:xfrm>
          <a:prstGeom prst="line">
            <a:avLst/>
          </a:prstGeom>
          <a:noFill/>
          <a:ln w="6350">
            <a:solidFill>
              <a:srgbClr val="DCD3C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48006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A095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/ 10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852160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095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canvas.ai-application.xyz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8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73152" cy="73152"/>
          </a:xfrm>
          <a:prstGeom prst="rect">
            <a:avLst/>
          </a:prstGeom>
          <a:solidFill>
            <a:srgbClr val="C6862B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40233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800" kern="0" dirty="0">
                <a:solidFill>
                  <a:srgbClr val="F7F2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CONVERSATION CANVAS  ·  TRY IT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8229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spc="-200" kern="0" dirty="0">
                <a:solidFill>
                  <a:srgbClr val="F7F2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Start your</a:t>
            </a:r>
            <a:endParaRPr lang="en-US" sz="6400" dirty="0"/>
          </a:p>
          <a:p>
            <a:pPr indent="0" marL="0">
              <a:buNone/>
            </a:pPr>
            <a:r>
              <a:rPr lang="en-US" sz="6400" i="1" spc="-200" kern="0" dirty="0">
                <a:solidFill>
                  <a:srgbClr val="F7F2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first canvas.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48640" y="3108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CD3C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Free during beta. Two minutes to your first card. No setup.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7033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A095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LIVE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395020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7F2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canvas.ai-application.xyz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120640" y="3703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A095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120640" y="39502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7F2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github.com/aravindsriraj/conversation-canvas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4572000"/>
            <a:ext cx="8046720" cy="0"/>
          </a:xfrm>
          <a:prstGeom prst="line">
            <a:avLst/>
          </a:prstGeom>
          <a:noFill/>
          <a:ln w="6350">
            <a:solidFill>
              <a:srgbClr val="A0958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600" kern="0" dirty="0">
                <a:solidFill>
                  <a:srgbClr val="DCD3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ARAVINDAN SRIRAJ  ·  MILAN AI WEEK 2026  ·  THANK YOU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Conversation Canvas — Milan AI Week 2026</dc:title>
  <dc:subject>PptxGenJS Presentation</dc:subject>
  <dc:creator>Aravindan Sriraj</dc:creator>
  <cp:lastModifiedBy>Aravindan Sriraj</cp:lastModifiedBy>
  <cp:revision>1</cp:revision>
  <dcterms:created xsi:type="dcterms:W3CDTF">2026-05-19T10:12:49Z</dcterms:created>
  <dcterms:modified xsi:type="dcterms:W3CDTF">2026-05-19T10:12:49Z</dcterms:modified>
</cp:coreProperties>
</file>